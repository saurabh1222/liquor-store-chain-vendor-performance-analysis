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Playfair Display"/>
      <p:regular r:id="rId17"/>
    </p:embeddedFont>
    <p:embeddedFont>
      <p:font typeface="Playfair Display"/>
      <p:regular r:id="rId18"/>
    </p:embeddedFont>
    <p:embeddedFont>
      <p:font typeface="Playfair Display"/>
      <p:regular r:id="rId19"/>
    </p:embeddedFont>
    <p:embeddedFont>
      <p:font typeface="Playfair Display"/>
      <p:regular r:id="rId20"/>
    </p:embeddedFont>
    <p:embeddedFont>
      <p:font typeface="Open Sans"/>
      <p:regular r:id="rId21"/>
    </p:embeddedFont>
    <p:embeddedFont>
      <p:font typeface="Open Sans"/>
      <p:regular r:id="rId22"/>
    </p:embeddedFont>
    <p:embeddedFont>
      <p:font typeface="Open Sans"/>
      <p:regular r:id="rId23"/>
    </p:embeddedFont>
    <p:embeddedFont>
      <p:font typeface="Open Sans"/>
      <p:regular r:id="rId2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Relationship Id="rId23" Type="http://schemas.openxmlformats.org/officeDocument/2006/relationships/font" Target="fonts/font7.fntdata"/><Relationship Id="rId24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9-1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0-1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1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0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87297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Vendor Performance Analysis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630698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Strategic insights from 2.3M+ transactions across 50+ vendors to optimize profitability and operational efficiency.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3790" y="1589603"/>
            <a:ext cx="1160978" cy="426244"/>
          </a:xfrm>
          <a:prstGeom prst="roundRect">
            <a:avLst>
              <a:gd name="adj" fmla="val 6386"/>
            </a:avLst>
          </a:prstGeom>
          <a:solidFill>
            <a:srgbClr val="E3E3E8"/>
          </a:solidFill>
          <a:ln/>
        </p:spPr>
      </p:sp>
      <p:sp>
        <p:nvSpPr>
          <p:cNvPr id="4" name="Text 1"/>
          <p:cNvSpPr/>
          <p:nvPr/>
        </p:nvSpPr>
        <p:spPr>
          <a:xfrm>
            <a:off x="929878" y="1657588"/>
            <a:ext cx="88880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93790" y="210657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Project at a Glance</a:t>
            </a:r>
            <a:endParaRPr lang="en-US" sz="4450" dirty="0"/>
          </a:p>
        </p:txBody>
      </p:sp>
      <p:sp>
        <p:nvSpPr>
          <p:cNvPr id="6" name="Shape 3"/>
          <p:cNvSpPr/>
          <p:nvPr/>
        </p:nvSpPr>
        <p:spPr>
          <a:xfrm>
            <a:off x="793790" y="3155513"/>
            <a:ext cx="2367558" cy="3484364"/>
          </a:xfrm>
          <a:prstGeom prst="roundRect">
            <a:avLst>
              <a:gd name="adj" fmla="val 1437"/>
            </a:avLst>
          </a:prstGeom>
          <a:solidFill>
            <a:srgbClr val="E0E0EC"/>
          </a:solidFill>
          <a:ln/>
        </p:spPr>
      </p:sp>
      <p:sp>
        <p:nvSpPr>
          <p:cNvPr id="7" name="Text 4"/>
          <p:cNvSpPr/>
          <p:nvPr/>
        </p:nvSpPr>
        <p:spPr>
          <a:xfrm>
            <a:off x="1020604" y="3382328"/>
            <a:ext cx="191393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Objective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20604" y="3872746"/>
            <a:ext cx="191393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Optimize vendor relationships and maximize profitability through data-driven insights.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3388162" y="3155513"/>
            <a:ext cx="2367558" cy="3484364"/>
          </a:xfrm>
          <a:prstGeom prst="roundRect">
            <a:avLst>
              <a:gd name="adj" fmla="val 1437"/>
            </a:avLst>
          </a:prstGeom>
          <a:solidFill>
            <a:srgbClr val="E0E0EC"/>
          </a:solidFill>
          <a:ln/>
        </p:spPr>
      </p:sp>
      <p:sp>
        <p:nvSpPr>
          <p:cNvPr id="10" name="Text 7"/>
          <p:cNvSpPr/>
          <p:nvPr/>
        </p:nvSpPr>
        <p:spPr>
          <a:xfrm>
            <a:off x="3614976" y="3382328"/>
            <a:ext cx="191393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Scope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614976" y="3872746"/>
            <a:ext cx="191393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metrics, profitability analysis, and seasonal demand forecasting.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5982533" y="3155513"/>
            <a:ext cx="2367558" cy="3484364"/>
          </a:xfrm>
          <a:prstGeom prst="roundRect">
            <a:avLst>
              <a:gd name="adj" fmla="val 1437"/>
            </a:avLst>
          </a:prstGeom>
          <a:solidFill>
            <a:srgbClr val="E0E0EC"/>
          </a:solidFill>
          <a:ln/>
        </p:spPr>
      </p:sp>
      <p:sp>
        <p:nvSpPr>
          <p:cNvPr id="13" name="Text 10"/>
          <p:cNvSpPr/>
          <p:nvPr/>
        </p:nvSpPr>
        <p:spPr>
          <a:xfrm>
            <a:off x="6209348" y="3382328"/>
            <a:ext cx="191393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Timeline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209348" y="3872746"/>
            <a:ext cx="191393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5-week implementation from data exploration to strategic recommendations.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146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Key Results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7217"/>
            <a:ext cx="3048000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70%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872728" y="4479012"/>
            <a:ext cx="289012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Market Concentration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969431"/>
            <a:ext cx="304800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 10 vendors represent 70-80% of total sales volume.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4125278" y="3447217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30%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4231719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Margin Variance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25278" y="4969431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Significant profitability gaps of 10-30% across vendor pool.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456884" y="3447217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14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7563326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Delivery Gap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456884" y="4969431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ranges from 3 to 14 days average delivery time.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0788491" y="3447217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40%</a:t>
            </a:r>
            <a:endParaRPr lang="en-US" sz="5850" dirty="0"/>
          </a:p>
        </p:txBody>
      </p:sp>
      <p:sp>
        <p:nvSpPr>
          <p:cNvPr id="13" name="Text 11"/>
          <p:cNvSpPr/>
          <p:nvPr/>
        </p:nvSpPr>
        <p:spPr>
          <a:xfrm>
            <a:off x="10894933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Seasonal Swing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88491" y="4969431"/>
            <a:ext cx="304811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Peak-to-low volume variance during holiday periods.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4502" y="651153"/>
            <a:ext cx="1753791" cy="427673"/>
          </a:xfrm>
          <a:prstGeom prst="roundRect">
            <a:avLst>
              <a:gd name="adj" fmla="val 6209"/>
            </a:avLst>
          </a:prstGeom>
          <a:noFill/>
          <a:ln w="7620">
            <a:solidFill>
              <a:srgbClr val="10101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876" y="725091"/>
            <a:ext cx="1473041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0101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INFRASTRUCTURE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74502" y="1165146"/>
            <a:ext cx="5946577" cy="691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43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Data &amp; Technical Stack</a:t>
            </a:r>
            <a:endParaRPr lang="en-US" sz="4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502" y="2523768"/>
            <a:ext cx="8313896" cy="4711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35847" y="2396252"/>
            <a:ext cx="2766179" cy="345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Data Sources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9635847" y="2957751"/>
            <a:ext cx="4227552" cy="2249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2.37M purchase records with pricing and delivery dates</a:t>
            </a:r>
            <a:endParaRPr lang="en-US" sz="1700" dirty="0"/>
          </a:p>
          <a:p>
            <a:pPr algn="l" marL="342900" indent="-342900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Sales transactions and product performance data</a:t>
            </a:r>
            <a:endParaRPr lang="en-US" sz="1700" dirty="0"/>
          </a:p>
          <a:p>
            <a:pPr algn="l" marL="342900" indent="-342900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Vendor invoices with payment terms and freight costs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35847" y="5423416"/>
            <a:ext cx="2766179" cy="345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Technology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9635847" y="5984915"/>
            <a:ext cx="4227552" cy="139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17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 database with Python (Pandas) processing. Query optimization reduced processing time from 40 minutes to under 1 minute.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15603"/>
            <a:ext cx="584561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Vendor Profit Margins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319695"/>
            <a:ext cx="8284131" cy="4639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38943" y="28672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The Gap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9638943" y="3448407"/>
            <a:ext cx="420516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 performers maintain 20%+ margins while bottom quartile falls below 15%.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9638943" y="440102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Critical Insight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638943" y="4982170"/>
            <a:ext cx="4205168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Volume doesn't always correlate with margin. High-volume vendors may have outdated contract terms, presenting renegotiation opportunities.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45212"/>
            <a:ext cx="772334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Delivery Reliability Challenge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2588538" y="3381970"/>
            <a:ext cx="2789873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450"/>
              </a:lnSpc>
              <a:buNone/>
            </a:pPr>
            <a:r>
              <a:rPr lang="en-US" sz="44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30%</a:t>
            </a:r>
            <a:endParaRPr lang="en-US" sz="4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2428" y="1964293"/>
            <a:ext cx="3402330" cy="34023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65916" y="56501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Vendors Over Target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6140529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Exceed the 7-day delivery standard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9251633" y="3381970"/>
            <a:ext cx="2789873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450"/>
              </a:lnSpc>
              <a:buNone/>
            </a:pPr>
            <a:r>
              <a:rPr lang="en-US" sz="44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14</a:t>
            </a:r>
            <a:endParaRPr lang="en-US" sz="44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523" y="1964293"/>
            <a:ext cx="3402330" cy="340233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229130" y="56501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Maximum Days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7456884" y="6140529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Longest delivery time recorded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793790" y="6758583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Inconsistent delivery performance leads to stockouts in high-turnover categories, directly impacting revenue and customer satisfaction.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447" y="839033"/>
            <a:ext cx="1230749" cy="374571"/>
          </a:xfrm>
          <a:prstGeom prst="roundRect">
            <a:avLst>
              <a:gd name="adj" fmla="val 6595"/>
            </a:avLst>
          </a:prstGeom>
          <a:solidFill>
            <a:srgbClr val="E3E3E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915" y="943927"/>
            <a:ext cx="164663" cy="1646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0851" y="900708"/>
            <a:ext cx="736878" cy="251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2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ANALYSIS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720447" y="1288256"/>
            <a:ext cx="5949434" cy="643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50"/>
              </a:lnSpc>
              <a:buNone/>
            </a:pPr>
            <a:r>
              <a:rPr lang="en-US" sz="40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Sales Concentration Risk</a:t>
            </a:r>
            <a:endParaRPr lang="en-US" sz="4050" dirty="0"/>
          </a:p>
        </p:txBody>
      </p:sp>
      <p:sp>
        <p:nvSpPr>
          <p:cNvPr id="6" name="Text 3"/>
          <p:cNvSpPr/>
          <p:nvPr/>
        </p:nvSpPr>
        <p:spPr>
          <a:xfrm>
            <a:off x="720447" y="2447568"/>
            <a:ext cx="2939772" cy="32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The 80/20 Rule in Action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20447" y="2955965"/>
            <a:ext cx="4289822" cy="62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6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 3 vendors account for 40-50% of total sales, creating significant dependency risk.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20447" y="3770948"/>
            <a:ext cx="2611160" cy="32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Strategic Opportunity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20447" y="4279344"/>
            <a:ext cx="4289822" cy="942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6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concentration provides massive leverage for volume-based negotiations and improved payment terms.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20447" y="5408414"/>
            <a:ext cx="2573179" cy="32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Seasonal Patterns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20447" y="5916811"/>
            <a:ext cx="4289822" cy="12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6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40% volume increase during November/December compared to January. Current inventory levels are reactive rather than proactive.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095" y="2421850"/>
            <a:ext cx="8397359" cy="47584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7640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Strategic Roadmap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299960" y="2838807"/>
            <a:ext cx="30480" cy="3714393"/>
          </a:xfrm>
          <a:prstGeom prst="roundRect">
            <a:avLst>
              <a:gd name="adj" fmla="val 111628"/>
            </a:avLst>
          </a:prstGeom>
          <a:solidFill>
            <a:srgbClr val="C6C6D2"/>
          </a:solidFill>
          <a:ln/>
        </p:spPr>
      </p:sp>
      <p:sp>
        <p:nvSpPr>
          <p:cNvPr id="4" name="Shape 2"/>
          <p:cNvSpPr/>
          <p:nvPr/>
        </p:nvSpPr>
        <p:spPr>
          <a:xfrm>
            <a:off x="6410087" y="3078718"/>
            <a:ext cx="680442" cy="30480"/>
          </a:xfrm>
          <a:prstGeom prst="roundRect">
            <a:avLst>
              <a:gd name="adj" fmla="val 111628"/>
            </a:avLst>
          </a:prstGeom>
          <a:solidFill>
            <a:srgbClr val="C6C6D2"/>
          </a:solidFill>
          <a:ln/>
        </p:spPr>
      </p:sp>
      <p:sp>
        <p:nvSpPr>
          <p:cNvPr id="5" name="Shape 3"/>
          <p:cNvSpPr/>
          <p:nvPr/>
        </p:nvSpPr>
        <p:spPr>
          <a:xfrm>
            <a:off x="7060049" y="2838807"/>
            <a:ext cx="510302" cy="510302"/>
          </a:xfrm>
          <a:prstGeom prst="roundRect">
            <a:avLst>
              <a:gd name="adj" fmla="val 6667"/>
            </a:avLst>
          </a:prstGeom>
          <a:solidFill>
            <a:srgbClr val="E0E0EC"/>
          </a:solidFill>
          <a:ln/>
        </p:spPr>
      </p:sp>
      <p:sp>
        <p:nvSpPr>
          <p:cNvPr id="6" name="Text 4"/>
          <p:cNvSpPr/>
          <p:nvPr/>
        </p:nvSpPr>
        <p:spPr>
          <a:xfrm>
            <a:off x="7145119" y="2881313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2108478" y="2916674"/>
            <a:ext cx="407265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Phase 1: Immediate (0-30 Days)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93790" y="3407093"/>
            <a:ext cx="5387340" cy="1973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Negotiate with top 10 vendors for volume discounts</a:t>
            </a:r>
            <a:endParaRPr lang="en-US" sz="1750" dirty="0"/>
          </a:p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 7-day delivery SLA with penalties</a:t>
            </a:r>
            <a:endParaRPr lang="en-US" sz="1750" dirty="0"/>
          </a:p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vendors under $5k annual spend for consolidation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539871" y="4439603"/>
            <a:ext cx="680442" cy="30480"/>
          </a:xfrm>
          <a:prstGeom prst="roundRect">
            <a:avLst>
              <a:gd name="adj" fmla="val 111628"/>
            </a:avLst>
          </a:prstGeom>
          <a:solidFill>
            <a:srgbClr val="C6C6D2"/>
          </a:solidFill>
          <a:ln/>
        </p:spPr>
      </p:sp>
      <p:sp>
        <p:nvSpPr>
          <p:cNvPr id="10" name="Shape 8"/>
          <p:cNvSpPr/>
          <p:nvPr/>
        </p:nvSpPr>
        <p:spPr>
          <a:xfrm>
            <a:off x="7060049" y="4199692"/>
            <a:ext cx="510302" cy="510302"/>
          </a:xfrm>
          <a:prstGeom prst="roundRect">
            <a:avLst>
              <a:gd name="adj" fmla="val 6667"/>
            </a:avLst>
          </a:prstGeom>
          <a:solidFill>
            <a:srgbClr val="E0E0EC"/>
          </a:solidFill>
          <a:ln/>
        </p:spPr>
      </p:sp>
      <p:sp>
        <p:nvSpPr>
          <p:cNvPr id="11" name="Text 9"/>
          <p:cNvSpPr/>
          <p:nvPr/>
        </p:nvSpPr>
        <p:spPr>
          <a:xfrm>
            <a:off x="7145119" y="424219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8449270" y="4277558"/>
            <a:ext cx="443876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Phase 2: Short-Term (30-90 Days)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49270" y="4767977"/>
            <a:ext cx="5387340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Shift 10-15% volume to high-efficiency vendors</a:t>
            </a:r>
            <a:endParaRPr lang="en-US" sz="1750" dirty="0"/>
          </a:p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Expand premium wine and spirits portfolio</a:t>
            </a:r>
            <a:endParaRPr lang="en-US" sz="1750" dirty="0"/>
          </a:p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 free freight thresholds to protect margins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9976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Expected Impact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3062168"/>
            <a:ext cx="1767840" cy="1767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11349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Gross Margin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603915"/>
            <a:ext cx="304800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+2% to 3% improvement</a:t>
            </a:r>
            <a:endParaRPr lang="en-US" sz="17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5278" y="3062168"/>
            <a:ext cx="1767840" cy="1767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25278" y="511349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Cost Savings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4125278" y="5603915"/>
            <a:ext cx="30481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$50,000-$100,000 annually</a:t>
            </a:r>
            <a:endParaRPr lang="en-US" sz="1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884" y="3062168"/>
            <a:ext cx="1767840" cy="1767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56884" y="511349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Vendor Reduction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7456884" y="5603915"/>
            <a:ext cx="304811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30% fewer vendors, lower overhead</a:t>
            </a:r>
            <a:endParaRPr lang="en-US" sz="17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8491" y="3062168"/>
            <a:ext cx="1767840" cy="176784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788491" y="5113496"/>
            <a:ext cx="285416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Delivery Performance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788491" y="5603915"/>
            <a:ext cx="304811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95% on-time target achievement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280190" y="1563410"/>
            <a:ext cx="2091095" cy="426244"/>
          </a:xfrm>
          <a:prstGeom prst="roundRect">
            <a:avLst>
              <a:gd name="adj" fmla="val 6386"/>
            </a:avLst>
          </a:prstGeom>
          <a:solidFill>
            <a:srgbClr val="E3E3E8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6278" y="1685806"/>
            <a:ext cx="181451" cy="1814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688455" y="1631394"/>
            <a:ext cx="154674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280190" y="2080379"/>
            <a:ext cx="731067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Key Performance Indicators</a:t>
            </a:r>
            <a:endParaRPr lang="en-US" sz="4450" dirty="0"/>
          </a:p>
        </p:txBody>
      </p:sp>
      <p:sp>
        <p:nvSpPr>
          <p:cNvPr id="7" name="Shape 3"/>
          <p:cNvSpPr/>
          <p:nvPr/>
        </p:nvSpPr>
        <p:spPr>
          <a:xfrm>
            <a:off x="6280190" y="3129320"/>
            <a:ext cx="2367558" cy="3536752"/>
          </a:xfrm>
          <a:prstGeom prst="roundRect">
            <a:avLst>
              <a:gd name="adj" fmla="val 6180"/>
            </a:avLst>
          </a:prstGeom>
          <a:solidFill>
            <a:srgbClr val="F3F3F7"/>
          </a:solidFill>
          <a:ln w="30480">
            <a:solidFill>
              <a:srgbClr val="C6C6D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249710" y="3129320"/>
            <a:ext cx="121920" cy="3536752"/>
          </a:xfrm>
          <a:prstGeom prst="roundRect">
            <a:avLst>
              <a:gd name="adj" fmla="val 27907"/>
            </a:avLst>
          </a:prstGeom>
          <a:solidFill>
            <a:srgbClr val="101014"/>
          </a:solidFill>
          <a:ln/>
        </p:spPr>
      </p:sp>
      <p:sp>
        <p:nvSpPr>
          <p:cNvPr id="9" name="Text 5"/>
          <p:cNvSpPr/>
          <p:nvPr/>
        </p:nvSpPr>
        <p:spPr>
          <a:xfrm>
            <a:off x="6628924" y="3386614"/>
            <a:ext cx="17615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Financial KPIs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628924" y="4231362"/>
            <a:ext cx="17615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Gross Margin %, Freight Cost %, Working Capital Days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8874562" y="3129320"/>
            <a:ext cx="2367558" cy="3536752"/>
          </a:xfrm>
          <a:prstGeom prst="roundRect">
            <a:avLst>
              <a:gd name="adj" fmla="val 6180"/>
            </a:avLst>
          </a:prstGeom>
          <a:solidFill>
            <a:srgbClr val="F3F3F7"/>
          </a:solidFill>
          <a:ln w="30480">
            <a:solidFill>
              <a:srgbClr val="C6C6D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844082" y="3129320"/>
            <a:ext cx="121920" cy="3536752"/>
          </a:xfrm>
          <a:prstGeom prst="roundRect">
            <a:avLst>
              <a:gd name="adj" fmla="val 27907"/>
            </a:avLst>
          </a:prstGeom>
          <a:solidFill>
            <a:srgbClr val="101014"/>
          </a:solidFill>
          <a:ln/>
        </p:spPr>
      </p:sp>
      <p:sp>
        <p:nvSpPr>
          <p:cNvPr id="13" name="Text 9"/>
          <p:cNvSpPr/>
          <p:nvPr/>
        </p:nvSpPr>
        <p:spPr>
          <a:xfrm>
            <a:off x="9223296" y="3386614"/>
            <a:ext cx="17615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Operational KPIs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223296" y="4231362"/>
            <a:ext cx="176153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Vendor Scorecard Compliance, Order Consolidation Rate</a:t>
            </a:r>
            <a:endParaRPr lang="en-US" sz="1750" dirty="0"/>
          </a:p>
        </p:txBody>
      </p:sp>
      <p:sp>
        <p:nvSpPr>
          <p:cNvPr id="15" name="Shape 11"/>
          <p:cNvSpPr/>
          <p:nvPr/>
        </p:nvSpPr>
        <p:spPr>
          <a:xfrm>
            <a:off x="11468933" y="3129320"/>
            <a:ext cx="2367558" cy="3536752"/>
          </a:xfrm>
          <a:prstGeom prst="roundRect">
            <a:avLst>
              <a:gd name="adj" fmla="val 6180"/>
            </a:avLst>
          </a:prstGeom>
          <a:solidFill>
            <a:srgbClr val="F3F3F7"/>
          </a:solidFill>
          <a:ln w="30480">
            <a:solidFill>
              <a:srgbClr val="C6C6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1438453" y="3129320"/>
            <a:ext cx="121920" cy="3536752"/>
          </a:xfrm>
          <a:prstGeom prst="roundRect">
            <a:avLst>
              <a:gd name="adj" fmla="val 27907"/>
            </a:avLst>
          </a:prstGeom>
          <a:solidFill>
            <a:srgbClr val="101014"/>
          </a:solidFill>
          <a:ln/>
        </p:spPr>
      </p:sp>
      <p:sp>
        <p:nvSpPr>
          <p:cNvPr id="17" name="Text 13"/>
          <p:cNvSpPr/>
          <p:nvPr/>
        </p:nvSpPr>
        <p:spPr>
          <a:xfrm>
            <a:off x="11817668" y="3386614"/>
            <a:ext cx="17615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Reliability KPIs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11817668" y="4231362"/>
            <a:ext cx="17615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Lead Time per Vendor, On-Time Delivery Rate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2026-02-17T07:05:57Z</dcterms:created>
  <dcterms:modified xsi:type="dcterms:W3CDTF">2026-02-17T07:05:57Z</dcterms:modified>
</cp:coreProperties>
</file>