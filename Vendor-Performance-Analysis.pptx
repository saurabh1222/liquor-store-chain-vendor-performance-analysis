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Playfair Display"/>
      <p:bold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fairDisplay-bold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regular.fntdata"/><Relationship Id="rId14" Type="http://schemas.openxmlformats.org/officeDocument/2006/relationships/font" Target="fonts/PlayfairDisplay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Vendor Performance Analysis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Strategic insights from 2.3M+ transactions across 50+ vendors to optimize profitability and operational efficiency.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793790" y="1589603"/>
            <a:ext cx="1160978" cy="426244"/>
          </a:xfrm>
          <a:prstGeom prst="roundRect">
            <a:avLst>
              <a:gd fmla="val 638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929878" y="1657588"/>
            <a:ext cx="88880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OVERVIEW</a:t>
            </a:r>
            <a:endParaRPr b="0" i="0" sz="14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93790" y="210657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at a Glance</a:t>
            </a:r>
            <a:endParaRPr b="0" i="0" sz="44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93790" y="3155513"/>
            <a:ext cx="2367558" cy="3484364"/>
          </a:xfrm>
          <a:prstGeom prst="roundRect">
            <a:avLst>
              <a:gd fmla="val 1437" name="adj"/>
            </a:avLst>
          </a:prstGeom>
          <a:solidFill>
            <a:srgbClr val="E0E0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020604" y="3382328"/>
            <a:ext cx="191393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Objective</a:t>
            </a:r>
            <a:endParaRPr b="0" i="0" sz="22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907161" y="3872750"/>
            <a:ext cx="2140800" cy="21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Optimize vendor relationships and maximize profitability through data-driven insights.</a:t>
            </a:r>
            <a:endParaRPr b="0" i="0" sz="17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3388162" y="3155513"/>
            <a:ext cx="2367558" cy="3484364"/>
          </a:xfrm>
          <a:prstGeom prst="roundRect">
            <a:avLst>
              <a:gd fmla="val 1437" name="adj"/>
            </a:avLst>
          </a:prstGeom>
          <a:solidFill>
            <a:srgbClr val="E0E0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3614976" y="3382328"/>
            <a:ext cx="191393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Scope</a:t>
            </a:r>
            <a:endParaRPr b="0" i="0" sz="22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3614976" y="3872746"/>
            <a:ext cx="191393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Performance metrics, profitability analysis, and seasonal demand forecasting.</a:t>
            </a:r>
            <a:endParaRPr b="0" i="0" sz="17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5982533" y="3155513"/>
            <a:ext cx="2367558" cy="3484364"/>
          </a:xfrm>
          <a:prstGeom prst="roundRect">
            <a:avLst>
              <a:gd fmla="val 1437" name="adj"/>
            </a:avLst>
          </a:prstGeom>
          <a:solidFill>
            <a:srgbClr val="E0E0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6209348" y="3382328"/>
            <a:ext cx="191393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Timeline</a:t>
            </a:r>
            <a:endParaRPr b="0" i="0" sz="22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6209348" y="3872746"/>
            <a:ext cx="1913930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5-week implementation from data exploration to strategic recommendations.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488365" y="2120562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Results</a:t>
            </a:r>
            <a:endParaRPr b="0" i="0" sz="44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793790" y="3447217"/>
            <a:ext cx="3048000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5850"/>
              <a:buFont typeface="Playfair Display"/>
              <a:buNone/>
            </a:pPr>
            <a:r>
              <a:rPr b="1" i="0" lang="en-US" sz="58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70%</a:t>
            </a:r>
            <a:endParaRPr b="0" i="0" sz="58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872728" y="4479012"/>
            <a:ext cx="289012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Market Concentration</a:t>
            </a:r>
            <a:endParaRPr b="0" i="0" sz="220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93790" y="4969431"/>
            <a:ext cx="304800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Top 10 vendors represent 70-80% of total sales volume.</a:t>
            </a:r>
            <a:endParaRPr b="0" i="0" sz="175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4125278" y="3447217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5850"/>
              <a:buFont typeface="Playfair Display"/>
              <a:buNone/>
            </a:pPr>
            <a:r>
              <a:rPr b="1" lang="en-US" sz="5850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r>
              <a:rPr b="1" i="0" lang="en-US" sz="58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0%</a:t>
            </a:r>
            <a:endParaRPr b="0" i="0" sz="585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4231719" y="44790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Margin Variance</a:t>
            </a:r>
            <a:endParaRPr b="0" i="0" sz="220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4125278" y="4969431"/>
            <a:ext cx="304811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Significant profitability gaps of </a:t>
            </a:r>
            <a:r>
              <a:rPr lang="en-US" sz="175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175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0% across vendor pool.</a:t>
            </a:r>
            <a:endParaRPr b="0" i="0" sz="17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7456884" y="3447217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5850"/>
              <a:buFont typeface="Playfair Display"/>
              <a:buNone/>
            </a:pPr>
            <a:r>
              <a:rPr b="1" i="0" lang="en-US" sz="58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14</a:t>
            </a:r>
            <a:endParaRPr b="0" i="0" sz="58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7563326" y="44790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Delivery Gap</a:t>
            </a:r>
            <a:endParaRPr b="0" i="0" sz="220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7456884" y="4969431"/>
            <a:ext cx="304811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Performance ranges from </a:t>
            </a:r>
            <a:r>
              <a:rPr lang="en-US" sz="175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 to 14 days average delivery time.</a:t>
            </a:r>
            <a:endParaRPr b="0" i="0" sz="175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10788491" y="3447217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5850"/>
              <a:buFont typeface="Playfair Display"/>
              <a:buNone/>
            </a:pPr>
            <a:r>
              <a:rPr b="1" lang="en-US" sz="5850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r>
              <a:rPr b="1" i="0" lang="en-US" sz="58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0%</a:t>
            </a:r>
            <a:endParaRPr b="0" i="0" sz="58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10894933" y="44790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Seasonal Swing</a:t>
            </a:r>
            <a:endParaRPr b="0" i="0" sz="220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10788491" y="4969431"/>
            <a:ext cx="304811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Peak-to-low volume variance during </a:t>
            </a:r>
            <a:r>
              <a:rPr lang="en-US" sz="175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seasons</a:t>
            </a: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774502" y="651153"/>
            <a:ext cx="1753791" cy="427673"/>
          </a:xfrm>
          <a:prstGeom prst="roundRect">
            <a:avLst>
              <a:gd fmla="val 6209" name="adj"/>
            </a:avLst>
          </a:prstGeom>
          <a:noFill/>
          <a:ln cap="flat" cmpd="sng" w="9525">
            <a:solidFill>
              <a:srgbClr val="1010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914876" y="725091"/>
            <a:ext cx="1473041" cy="279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1350"/>
              <a:buFont typeface="Open Sans"/>
              <a:buNone/>
            </a:pPr>
            <a:r>
              <a:rPr b="0" i="0" lang="en-US" sz="1350" u="none" cap="none" strike="noStrike">
                <a:solidFill>
                  <a:srgbClr val="101014"/>
                </a:solidFill>
                <a:latin typeface="Open Sans"/>
                <a:ea typeface="Open Sans"/>
                <a:cs typeface="Open Sans"/>
                <a:sym typeface="Open Sans"/>
              </a:rPr>
              <a:t>INFRASTRUCTURE</a:t>
            </a:r>
            <a:endParaRPr b="0" i="0" sz="135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774502" y="1165146"/>
            <a:ext cx="5946577" cy="691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350"/>
              <a:buFont typeface="Playfair Display"/>
              <a:buNone/>
            </a:pPr>
            <a:r>
              <a:rPr b="1" i="0" lang="en-US" sz="43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&amp; Technical Stack</a:t>
            </a:r>
            <a:endParaRPr b="0" i="0" sz="4350" u="none" cap="none" strike="noStrike"/>
          </a:p>
        </p:txBody>
      </p:sp>
      <p:pic>
        <p:nvPicPr>
          <p:cNvPr descr="preencoded.png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27" y="2812218"/>
            <a:ext cx="8313895" cy="471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9635847" y="2396252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2150"/>
              <a:buFont typeface="Playfair Display"/>
              <a:buNone/>
            </a:pPr>
            <a:r>
              <a:rPr b="1" i="0" lang="en-US" sz="21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Sources</a:t>
            </a:r>
            <a:endParaRPr b="0" i="0" sz="2150" u="none" cap="none" strike="noStrike"/>
          </a:p>
        </p:txBody>
      </p:sp>
      <p:sp>
        <p:nvSpPr>
          <p:cNvPr id="105" name="Google Shape;105;p16"/>
          <p:cNvSpPr/>
          <p:nvPr/>
        </p:nvSpPr>
        <p:spPr>
          <a:xfrm>
            <a:off x="9635847" y="2957751"/>
            <a:ext cx="4227552" cy="2249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2.37M purchase records with pricing and delivery dates</a:t>
            </a:r>
            <a:endParaRPr b="0" i="0" sz="1700" u="none" cap="none" strike="noStrike"/>
          </a:p>
          <a:p>
            <a:pPr indent="-342900" lvl="0" marL="34290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Sales transactions and product performance data</a:t>
            </a:r>
            <a:endParaRPr b="0" i="0" sz="1700" u="none" cap="none" strike="noStrike"/>
          </a:p>
          <a:p>
            <a:pPr indent="-342900" lvl="0" marL="34290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Vendor invoices with payment terms and freight costs</a:t>
            </a:r>
            <a:endParaRPr b="0" i="0" sz="170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9635847" y="5423416"/>
            <a:ext cx="2766179" cy="345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2150"/>
              <a:buFont typeface="Playfair Display"/>
              <a:buNone/>
            </a:pPr>
            <a:r>
              <a:rPr b="1" i="0" lang="en-US" sz="21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Technology</a:t>
            </a:r>
            <a:endParaRPr b="0" i="0" sz="215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9635847" y="5984915"/>
            <a:ext cx="4227552" cy="139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SQLite database with Python (Pandas) processing. Query optimization reduced processing time from 40 minutes to under 1 minute.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793790" y="1015603"/>
            <a:ext cx="58456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Vendor Profit Margins</a:t>
            </a:r>
            <a:endParaRPr b="0" i="0" sz="4450" u="none" cap="none" strike="noStrike"/>
          </a:p>
        </p:txBody>
      </p:sp>
      <p:pic>
        <p:nvPicPr>
          <p:cNvPr descr="preencoded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19695"/>
            <a:ext cx="8284131" cy="46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/>
          <p:nvPr/>
        </p:nvSpPr>
        <p:spPr>
          <a:xfrm>
            <a:off x="9638943" y="28672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Gap</a:t>
            </a:r>
            <a:endParaRPr b="0" i="0" sz="2200" u="none" cap="none" strike="noStrike"/>
          </a:p>
        </p:txBody>
      </p:sp>
      <p:sp>
        <p:nvSpPr>
          <p:cNvPr id="116" name="Google Shape;116;p17"/>
          <p:cNvSpPr/>
          <p:nvPr/>
        </p:nvSpPr>
        <p:spPr>
          <a:xfrm>
            <a:off x="9638943" y="3448407"/>
            <a:ext cx="420516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Top performers maintain 20%+ margins while </a:t>
            </a:r>
            <a:r>
              <a:rPr lang="en-US" sz="175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some have high margins</a:t>
            </a: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750" u="none" cap="none" strike="noStrike"/>
          </a:p>
        </p:txBody>
      </p:sp>
      <p:sp>
        <p:nvSpPr>
          <p:cNvPr id="117" name="Google Shape;117;p17"/>
          <p:cNvSpPr/>
          <p:nvPr/>
        </p:nvSpPr>
        <p:spPr>
          <a:xfrm>
            <a:off x="9638943" y="440102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Critical Insight</a:t>
            </a:r>
            <a:endParaRPr b="0" i="0" sz="220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9638943" y="4982170"/>
            <a:ext cx="4205168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Volume doesn't always correlate with margin. High-volume vendors may have outdated contract terms, presenting renegotiation opportunities.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793790" y="745212"/>
            <a:ext cx="772334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Delivery Reliability Challenge</a:t>
            </a:r>
            <a:endParaRPr b="0" i="0" sz="4450" u="none" cap="none" strike="noStrike"/>
          </a:p>
        </p:txBody>
      </p:sp>
      <p:sp>
        <p:nvSpPr>
          <p:cNvPr id="125" name="Google Shape;125;p18"/>
          <p:cNvSpPr/>
          <p:nvPr/>
        </p:nvSpPr>
        <p:spPr>
          <a:xfrm>
            <a:off x="2588538" y="3381970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30%</a:t>
            </a:r>
            <a:endParaRPr b="0" i="0" sz="4450" u="none" cap="none" strike="noStrike"/>
          </a:p>
        </p:txBody>
      </p:sp>
      <p:pic>
        <p:nvPicPr>
          <p:cNvPr descr="preencoded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2316" y="2111693"/>
            <a:ext cx="3402329" cy="340232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2565916" y="56501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Vendors Over Target</a:t>
            </a:r>
            <a:endParaRPr b="0" i="0" sz="2200" u="none" cap="none" strike="noStrike"/>
          </a:p>
        </p:txBody>
      </p:sp>
      <p:sp>
        <p:nvSpPr>
          <p:cNvPr id="128" name="Google Shape;128;p18"/>
          <p:cNvSpPr/>
          <p:nvPr/>
        </p:nvSpPr>
        <p:spPr>
          <a:xfrm>
            <a:off x="793790" y="6140529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Exceed the 7-day delivery standard</a:t>
            </a:r>
            <a:endParaRPr b="0" i="0" sz="1750" u="none" cap="none" strike="noStrike"/>
          </a:p>
        </p:txBody>
      </p:sp>
      <p:sp>
        <p:nvSpPr>
          <p:cNvPr id="129" name="Google Shape;129;p18"/>
          <p:cNvSpPr/>
          <p:nvPr/>
        </p:nvSpPr>
        <p:spPr>
          <a:xfrm>
            <a:off x="9251633" y="3381970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14</a:t>
            </a:r>
            <a:endParaRPr b="0" i="0" sz="4450" u="none" cap="none" strike="noStrike"/>
          </a:p>
        </p:txBody>
      </p:sp>
      <p:pic>
        <p:nvPicPr>
          <p:cNvPr descr="preencoded.png"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5523" y="1964293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/>
          <p:nvPr/>
        </p:nvSpPr>
        <p:spPr>
          <a:xfrm>
            <a:off x="9229130" y="56501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Maximum Days</a:t>
            </a:r>
            <a:endParaRPr b="0" i="0" sz="2200" u="none" cap="none" strike="noStrike"/>
          </a:p>
        </p:txBody>
      </p:sp>
      <p:sp>
        <p:nvSpPr>
          <p:cNvPr id="132" name="Google Shape;132;p18"/>
          <p:cNvSpPr/>
          <p:nvPr/>
        </p:nvSpPr>
        <p:spPr>
          <a:xfrm>
            <a:off x="7456884" y="6140529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Longest delivery time recorded</a:t>
            </a:r>
            <a:endParaRPr b="0" i="0" sz="1750" u="none" cap="none" strike="noStrike"/>
          </a:p>
        </p:txBody>
      </p:sp>
      <p:sp>
        <p:nvSpPr>
          <p:cNvPr id="133" name="Google Shape;133;p18"/>
          <p:cNvSpPr/>
          <p:nvPr/>
        </p:nvSpPr>
        <p:spPr>
          <a:xfrm>
            <a:off x="793790" y="675858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Inconsistent delivery performance leads to stockouts in high-turnover categories, directly impacting revenue and customer satisfaction.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793790" y="167640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Strategic Roadmap</a:t>
            </a:r>
            <a:endParaRPr b="0" i="0" sz="4450" u="none" cap="none" strike="noStrike"/>
          </a:p>
        </p:txBody>
      </p:sp>
      <p:sp>
        <p:nvSpPr>
          <p:cNvPr id="140" name="Google Shape;140;p19"/>
          <p:cNvSpPr/>
          <p:nvPr/>
        </p:nvSpPr>
        <p:spPr>
          <a:xfrm>
            <a:off x="7299960" y="2838807"/>
            <a:ext cx="30480" cy="3714393"/>
          </a:xfrm>
          <a:prstGeom prst="roundRect">
            <a:avLst>
              <a:gd fmla="val 111628" name="adj"/>
            </a:avLst>
          </a:prstGeom>
          <a:solidFill>
            <a:srgbClr val="C6C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6410087" y="3078718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C6C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7060049" y="283880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0E0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7145119" y="288131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650"/>
              <a:buFont typeface="Playfair Display"/>
              <a:buNone/>
            </a:pPr>
            <a:r>
              <a:rPr b="1" i="0" lang="en-US" sz="26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b="0" i="0" sz="2650" u="none" cap="none" strike="noStrike"/>
          </a:p>
        </p:txBody>
      </p:sp>
      <p:sp>
        <p:nvSpPr>
          <p:cNvPr id="144" name="Google Shape;144;p19"/>
          <p:cNvSpPr/>
          <p:nvPr/>
        </p:nvSpPr>
        <p:spPr>
          <a:xfrm>
            <a:off x="2108478" y="2916674"/>
            <a:ext cx="407265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Phase 1: Immediate (0-30 Days)</a:t>
            </a:r>
            <a:endParaRPr b="0" i="0" sz="220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793790" y="3407093"/>
            <a:ext cx="5387340" cy="1973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Negotiate with top 10 vendors for volume discounts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Identify vendors under $5k annual spend for consolidation</a:t>
            </a:r>
            <a:endParaRPr b="0" i="0" sz="175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7539871" y="4439603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C6C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7060049" y="419969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0E0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7145119" y="424219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650"/>
              <a:buFont typeface="Playfair Display"/>
              <a:buNone/>
            </a:pPr>
            <a:r>
              <a:rPr b="1" i="0" lang="en-US" sz="265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b="0" i="0" sz="265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8449270" y="4277558"/>
            <a:ext cx="443876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Phase 2: Short-Term (30-90 Days)</a:t>
            </a:r>
            <a:endParaRPr b="0" i="0" sz="2200" u="none" cap="none" strike="noStrike"/>
          </a:p>
        </p:txBody>
      </p:sp>
      <p:sp>
        <p:nvSpPr>
          <p:cNvPr id="150" name="Google Shape;150;p19"/>
          <p:cNvSpPr/>
          <p:nvPr/>
        </p:nvSpPr>
        <p:spPr>
          <a:xfrm>
            <a:off x="8449270" y="4767977"/>
            <a:ext cx="5387340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Shift 10-15% volume to high-efficiency vendors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Expand premium wine and spirits portfolio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6280190" y="1563410"/>
            <a:ext cx="2091095" cy="426244"/>
          </a:xfrm>
          <a:prstGeom prst="roundRect">
            <a:avLst>
              <a:gd fmla="val 6386" name="adj"/>
            </a:avLst>
          </a:prstGeom>
          <a:solidFill>
            <a:srgbClr val="E3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6278" y="1685806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6688455" y="1631394"/>
            <a:ext cx="1546741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400"/>
              <a:buFont typeface="Open Sans"/>
              <a:buNone/>
            </a:pPr>
            <a:r>
              <a:rPr b="0" i="0" lang="en-US" sz="140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SUCCESS METRICS</a:t>
            </a:r>
            <a:endParaRPr b="0" i="0" sz="1400" u="none" cap="none" strike="noStrike"/>
          </a:p>
        </p:txBody>
      </p:sp>
      <p:sp>
        <p:nvSpPr>
          <p:cNvPr id="160" name="Google Shape;160;p20"/>
          <p:cNvSpPr/>
          <p:nvPr/>
        </p:nvSpPr>
        <p:spPr>
          <a:xfrm>
            <a:off x="6280190" y="2080379"/>
            <a:ext cx="731067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01014"/>
              </a:buClr>
              <a:buSzPts val="4450"/>
              <a:buFont typeface="Playfair Display"/>
              <a:buNone/>
            </a:pPr>
            <a:r>
              <a:rPr b="1" i="0" lang="en-US" sz="4450" u="none" cap="none" strike="noStrike">
                <a:solidFill>
                  <a:srgbClr val="1010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Performance Indicators</a:t>
            </a:r>
            <a:endParaRPr b="0" i="0" sz="4450" u="none" cap="none" strike="noStrike"/>
          </a:p>
        </p:txBody>
      </p:sp>
      <p:sp>
        <p:nvSpPr>
          <p:cNvPr id="161" name="Google Shape;161;p20"/>
          <p:cNvSpPr/>
          <p:nvPr/>
        </p:nvSpPr>
        <p:spPr>
          <a:xfrm>
            <a:off x="6280190" y="3129320"/>
            <a:ext cx="2367558" cy="3536752"/>
          </a:xfrm>
          <a:prstGeom prst="roundRect">
            <a:avLst>
              <a:gd fmla="val 6180" name="adj"/>
            </a:avLst>
          </a:prstGeom>
          <a:solidFill>
            <a:srgbClr val="F3F3F7"/>
          </a:solidFill>
          <a:ln cap="flat" cmpd="sng" w="30475">
            <a:solidFill>
              <a:srgbClr val="C6C6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6249710" y="3129320"/>
            <a:ext cx="121920" cy="3536752"/>
          </a:xfrm>
          <a:prstGeom prst="roundRect">
            <a:avLst>
              <a:gd fmla="val 27907" name="adj"/>
            </a:avLst>
          </a:prstGeom>
          <a:solidFill>
            <a:srgbClr val="1010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6628924" y="3386614"/>
            <a:ext cx="17615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Financial KPIs</a:t>
            </a:r>
            <a:endParaRPr b="0" i="0" sz="2200" u="none" cap="none" strike="noStrike"/>
          </a:p>
        </p:txBody>
      </p:sp>
      <p:sp>
        <p:nvSpPr>
          <p:cNvPr id="164" name="Google Shape;164;p20"/>
          <p:cNvSpPr/>
          <p:nvPr/>
        </p:nvSpPr>
        <p:spPr>
          <a:xfrm>
            <a:off x="6628924" y="4231362"/>
            <a:ext cx="176153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Gross Margin %, Freight Cost %, Working Capital Days</a:t>
            </a:r>
            <a:endParaRPr b="0" i="0" sz="1750" u="none" cap="none" strike="noStrike"/>
          </a:p>
        </p:txBody>
      </p:sp>
      <p:sp>
        <p:nvSpPr>
          <p:cNvPr id="165" name="Google Shape;165;p20"/>
          <p:cNvSpPr/>
          <p:nvPr/>
        </p:nvSpPr>
        <p:spPr>
          <a:xfrm>
            <a:off x="8874562" y="3129320"/>
            <a:ext cx="2367558" cy="3536752"/>
          </a:xfrm>
          <a:prstGeom prst="roundRect">
            <a:avLst>
              <a:gd fmla="val 6180" name="adj"/>
            </a:avLst>
          </a:prstGeom>
          <a:solidFill>
            <a:srgbClr val="F3F3F7"/>
          </a:solidFill>
          <a:ln cap="flat" cmpd="sng" w="30475">
            <a:solidFill>
              <a:srgbClr val="C6C6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8844082" y="3129320"/>
            <a:ext cx="121920" cy="3536752"/>
          </a:xfrm>
          <a:prstGeom prst="roundRect">
            <a:avLst>
              <a:gd fmla="val 27907" name="adj"/>
            </a:avLst>
          </a:prstGeom>
          <a:solidFill>
            <a:srgbClr val="1010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9223296" y="3386614"/>
            <a:ext cx="17615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Operational KPIs</a:t>
            </a:r>
            <a:endParaRPr b="0" i="0" sz="2200" u="none" cap="none" strike="noStrike"/>
          </a:p>
        </p:txBody>
      </p:sp>
      <p:sp>
        <p:nvSpPr>
          <p:cNvPr id="168" name="Google Shape;168;p20"/>
          <p:cNvSpPr/>
          <p:nvPr/>
        </p:nvSpPr>
        <p:spPr>
          <a:xfrm>
            <a:off x="9223300" y="4231350"/>
            <a:ext cx="1951500" cy="21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Vendor Scorecard Compliance, Order Consolidation Rate</a:t>
            </a:r>
            <a:endParaRPr b="0" i="0" sz="1750" u="none" cap="none" strike="noStrike"/>
          </a:p>
        </p:txBody>
      </p:sp>
      <p:sp>
        <p:nvSpPr>
          <p:cNvPr id="169" name="Google Shape;169;p20"/>
          <p:cNvSpPr/>
          <p:nvPr/>
        </p:nvSpPr>
        <p:spPr>
          <a:xfrm>
            <a:off x="11468933" y="3129320"/>
            <a:ext cx="2367558" cy="3536752"/>
          </a:xfrm>
          <a:prstGeom prst="roundRect">
            <a:avLst>
              <a:gd fmla="val 6180" name="adj"/>
            </a:avLst>
          </a:prstGeom>
          <a:solidFill>
            <a:srgbClr val="F3F3F7"/>
          </a:solidFill>
          <a:ln cap="flat" cmpd="sng" w="30475">
            <a:solidFill>
              <a:srgbClr val="C6C6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11438453" y="3129320"/>
            <a:ext cx="121920" cy="3536752"/>
          </a:xfrm>
          <a:prstGeom prst="roundRect">
            <a:avLst>
              <a:gd fmla="val 27907" name="adj"/>
            </a:avLst>
          </a:prstGeom>
          <a:solidFill>
            <a:srgbClr val="1010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11817668" y="3386614"/>
            <a:ext cx="17615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2200"/>
              <a:buFont typeface="Playfair Display"/>
              <a:buNone/>
            </a:pPr>
            <a:r>
              <a:rPr b="1" i="0" lang="en-US" sz="2200" u="none" cap="none" strike="noStrike">
                <a:solidFill>
                  <a:srgbClr val="39393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Reliability KPIs</a:t>
            </a:r>
            <a:endParaRPr b="0" i="0" sz="220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11817668" y="4231362"/>
            <a:ext cx="176153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939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Average Lead Time per Vendor, On-Time Delivery Rate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